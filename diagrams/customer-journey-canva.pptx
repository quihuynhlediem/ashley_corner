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6192500" cy="1905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381375" y="2286000"/>
            <a:ext cx="619125" cy="0"/>
          </a:xfrm>
          <a:prstGeom prst="line">
            <a:avLst/>
          </a:prstGeom>
          <a:ln w="19050">
            <a:solidFill>
              <a:srgbClr val="7C8D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7067550" y="2286000"/>
            <a:ext cx="647700" cy="0"/>
          </a:xfrm>
          <a:prstGeom prst="line">
            <a:avLst/>
          </a:prstGeom>
          <a:ln w="19050">
            <a:solidFill>
              <a:srgbClr val="7C8D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11068050" y="952500"/>
            <a:ext cx="0" cy="1333500"/>
          </a:xfrm>
          <a:prstGeom prst="line">
            <a:avLst/>
          </a:prstGeom>
          <a:ln w="19050">
            <a:solidFill>
              <a:srgbClr val="7C8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068050" y="952500"/>
            <a:ext cx="2838450" cy="0"/>
          </a:xfrm>
          <a:prstGeom prst="line">
            <a:avLst/>
          </a:prstGeom>
          <a:ln w="19050">
            <a:solidFill>
              <a:srgbClr val="7C8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3906500" y="952500"/>
            <a:ext cx="0" cy="647700"/>
          </a:xfrm>
          <a:prstGeom prst="line">
            <a:avLst/>
          </a:prstGeom>
          <a:ln w="19050">
            <a:solidFill>
              <a:srgbClr val="7C8D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410700" y="3086100"/>
            <a:ext cx="0" cy="1076325"/>
          </a:xfrm>
          <a:prstGeom prst="line">
            <a:avLst/>
          </a:prstGeom>
          <a:ln w="19050">
            <a:solidFill>
              <a:srgbClr val="7C8D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410700" y="5619750"/>
            <a:ext cx="0" cy="800100"/>
          </a:xfrm>
          <a:prstGeom prst="line">
            <a:avLst/>
          </a:prstGeom>
          <a:ln w="19050">
            <a:solidFill>
              <a:srgbClr val="7C8D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6543675" y="7267575"/>
            <a:ext cx="1190625" cy="0"/>
          </a:xfrm>
          <a:prstGeom prst="line">
            <a:avLst/>
          </a:prstGeom>
          <a:ln w="19050">
            <a:solidFill>
              <a:srgbClr val="7C8D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2809875" y="7239000"/>
            <a:ext cx="333375" cy="0"/>
          </a:xfrm>
          <a:prstGeom prst="line">
            <a:avLst/>
          </a:prstGeom>
          <a:ln w="19050">
            <a:solidFill>
              <a:srgbClr val="7C8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809875" y="4905375"/>
            <a:ext cx="0" cy="2333625"/>
          </a:xfrm>
          <a:prstGeom prst="line">
            <a:avLst/>
          </a:prstGeom>
          <a:ln w="19050">
            <a:solidFill>
              <a:srgbClr val="7C8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809875" y="4905375"/>
            <a:ext cx="4886325" cy="0"/>
          </a:xfrm>
          <a:prstGeom prst="line">
            <a:avLst/>
          </a:prstGeom>
          <a:ln w="19050">
            <a:solidFill>
              <a:srgbClr val="7C8D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410700" y="8105775"/>
            <a:ext cx="0" cy="847725"/>
          </a:xfrm>
          <a:prstGeom prst="line">
            <a:avLst/>
          </a:prstGeom>
          <a:ln w="19050">
            <a:solidFill>
              <a:srgbClr val="7C8D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068050" y="9801225"/>
            <a:ext cx="428625" cy="0"/>
          </a:xfrm>
          <a:prstGeom prst="line">
            <a:avLst/>
          </a:prstGeom>
          <a:ln w="19050">
            <a:solidFill>
              <a:srgbClr val="7C8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1496675" y="2076450"/>
            <a:ext cx="0" cy="7724775"/>
          </a:xfrm>
          <a:prstGeom prst="line">
            <a:avLst/>
          </a:prstGeom>
          <a:ln w="19050">
            <a:solidFill>
              <a:srgbClr val="7C8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496675" y="2076450"/>
            <a:ext cx="704850" cy="0"/>
          </a:xfrm>
          <a:prstGeom prst="line">
            <a:avLst/>
          </a:prstGeom>
          <a:ln w="19050">
            <a:solidFill>
              <a:srgbClr val="7C8D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5143500" y="9801225"/>
            <a:ext cx="2590800" cy="0"/>
          </a:xfrm>
          <a:prstGeom prst="line">
            <a:avLst/>
          </a:prstGeom>
          <a:ln w="19050">
            <a:solidFill>
              <a:srgbClr val="7C8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143500" y="9801225"/>
            <a:ext cx="0" cy="1352550"/>
          </a:xfrm>
          <a:prstGeom prst="line">
            <a:avLst/>
          </a:prstGeom>
          <a:ln w="19050">
            <a:solidFill>
              <a:srgbClr val="7C8D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838950" y="11906250"/>
            <a:ext cx="857250" cy="0"/>
          </a:xfrm>
          <a:prstGeom prst="line">
            <a:avLst/>
          </a:prstGeom>
          <a:ln w="19050">
            <a:solidFill>
              <a:srgbClr val="7C8D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1096625" y="11925300"/>
            <a:ext cx="638175" cy="0"/>
          </a:xfrm>
          <a:prstGeom prst="line">
            <a:avLst/>
          </a:prstGeom>
          <a:ln w="19050">
            <a:solidFill>
              <a:srgbClr val="7C8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1734800" y="2552700"/>
            <a:ext cx="0" cy="9372600"/>
          </a:xfrm>
          <a:prstGeom prst="line">
            <a:avLst/>
          </a:prstGeom>
          <a:ln w="19050">
            <a:solidFill>
              <a:srgbClr val="7C8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1734800" y="2552700"/>
            <a:ext cx="466725" cy="0"/>
          </a:xfrm>
          <a:prstGeom prst="line">
            <a:avLst/>
          </a:prstGeom>
          <a:ln w="19050">
            <a:solidFill>
              <a:srgbClr val="7C8D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3906500" y="2971800"/>
            <a:ext cx="0" cy="1200150"/>
          </a:xfrm>
          <a:prstGeom prst="line">
            <a:avLst/>
          </a:prstGeom>
          <a:ln w="19050">
            <a:solidFill>
              <a:srgbClr val="7C8D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5601950" y="4905375"/>
            <a:ext cx="323850" cy="0"/>
          </a:xfrm>
          <a:prstGeom prst="line">
            <a:avLst/>
          </a:prstGeom>
          <a:ln w="19050">
            <a:solidFill>
              <a:srgbClr val="7C8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5925800" y="4905375"/>
            <a:ext cx="0" cy="8429625"/>
          </a:xfrm>
          <a:prstGeom prst="line">
            <a:avLst/>
          </a:prstGeom>
          <a:ln w="19050">
            <a:solidFill>
              <a:srgbClr val="7C8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2171700" y="13335000"/>
            <a:ext cx="13754100" cy="0"/>
          </a:xfrm>
          <a:prstGeom prst="line">
            <a:avLst/>
          </a:prstGeom>
          <a:ln w="19050">
            <a:solidFill>
              <a:srgbClr val="7C8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171700" y="13335000"/>
            <a:ext cx="0" cy="314325"/>
          </a:xfrm>
          <a:prstGeom prst="line">
            <a:avLst/>
          </a:prstGeom>
          <a:ln w="19050">
            <a:solidFill>
              <a:srgbClr val="7C8D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029075" y="14668500"/>
            <a:ext cx="790575" cy="0"/>
          </a:xfrm>
          <a:prstGeom prst="line">
            <a:avLst/>
          </a:prstGeom>
          <a:ln w="19050">
            <a:solidFill>
              <a:srgbClr val="7C8D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172450" y="14668500"/>
            <a:ext cx="809625" cy="0"/>
          </a:xfrm>
          <a:prstGeom prst="line">
            <a:avLst/>
          </a:prstGeom>
          <a:ln w="19050">
            <a:solidFill>
              <a:srgbClr val="7C8D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515100" y="15506700"/>
            <a:ext cx="0" cy="876300"/>
          </a:xfrm>
          <a:prstGeom prst="line">
            <a:avLst/>
          </a:prstGeom>
          <a:ln w="19050">
            <a:solidFill>
              <a:srgbClr val="7C8D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2171700" y="17116425"/>
            <a:ext cx="2657475" cy="0"/>
          </a:xfrm>
          <a:prstGeom prst="line">
            <a:avLst/>
          </a:prstGeom>
          <a:ln w="19050">
            <a:solidFill>
              <a:srgbClr val="7C8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2171700" y="15687675"/>
            <a:ext cx="0" cy="1428750"/>
          </a:xfrm>
          <a:prstGeom prst="line">
            <a:avLst/>
          </a:prstGeom>
          <a:ln w="19050">
            <a:solidFill>
              <a:srgbClr val="7C8D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610850" y="15344775"/>
            <a:ext cx="0" cy="1038225"/>
          </a:xfrm>
          <a:prstGeom prst="line">
            <a:avLst/>
          </a:prstGeom>
          <a:ln w="19050">
            <a:solidFill>
              <a:srgbClr val="7C8DB5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61950" y="285750"/>
            <a:ext cx="6667500" cy="571500"/>
          </a:xfrm>
          <a:prstGeom prst="rect">
            <a:avLst/>
          </a:prstGeom>
          <a:noFill/>
        </p:spPr>
        <p:txBody>
          <a:bodyPr wrap="square" anchor="ctr" lIns="19050" rIns="19050" tIns="19050" bIns="19050">
            <a:spAutoFit/>
          </a:bodyPr>
          <a:lstStyle/>
          <a:p>
            <a:pPr algn="l"/>
            <a:r>
              <a:rPr sz="2800" b="1">
                <a:solidFill>
                  <a:srgbClr val="0A2378"/>
                </a:solidFill>
                <a:latin typeface="Noto Sans"/>
              </a:rPr>
              <a:t>Customer journey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1950" y="895350"/>
            <a:ext cx="1762125" cy="47625"/>
          </a:xfrm>
          <a:prstGeom prst="rect">
            <a:avLst/>
          </a:prstGeom>
          <a:solidFill>
            <a:srgbClr val="E3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rminator 35"/>
          <p:cNvSpPr/>
          <p:nvPr/>
        </p:nvSpPr>
        <p:spPr>
          <a:xfrm>
            <a:off x="333375" y="1619250"/>
            <a:ext cx="3048000" cy="1352550"/>
          </a:xfrm>
          <a:prstGeom prst="flowChartTerminator">
            <a:avLst/>
          </a:prstGeom>
          <a:solidFill>
            <a:srgbClr val="E2F3FD"/>
          </a:solidFill>
          <a:ln w="25400">
            <a:solidFill>
              <a:srgbClr val="33A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76200" bIns="76200" wrap="square"/>
          <a:lstStyle/>
          <a:p>
            <a:pPr algn="ctr"/>
            <a:r>
              <a:rPr sz="1500" b="1">
                <a:solidFill>
                  <a:srgbClr val="0A2378"/>
                </a:solidFill>
                <a:latin typeface="Noto Sans"/>
              </a:rPr>
              <a:t>Checkout Interface</a:t>
            </a:r>
          </a:p>
          <a:p>
            <a:pPr algn="ctr"/>
            <a:r>
              <a:rPr sz="1050" b="0">
                <a:solidFill>
                  <a:srgbClr val="1F5FD6"/>
                </a:solidFill>
                <a:latin typeface="Noto Sans"/>
              </a:rPr>
              <a:t>Any website or application</a:t>
            </a:r>
          </a:p>
          <a:p>
            <a:pPr algn="ctr"/>
            <a:r>
              <a:rPr sz="1050" b="0">
                <a:solidFill>
                  <a:srgbClr val="1F5FD6"/>
                </a:solidFill>
                <a:latin typeface="Noto Sans"/>
              </a:rPr>
              <a:t>(Shopee, CellphoneS...)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838450" y="1447800"/>
            <a:ext cx="3810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A2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0A2378"/>
                </a:solidFill>
                <a:latin typeface="Noto Sans"/>
              </a:rPr>
              <a:t>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019550" y="1619250"/>
            <a:ext cx="3048000" cy="1352550"/>
          </a:xfrm>
          <a:prstGeom prst="rect">
            <a:avLst/>
          </a:prstGeom>
          <a:solidFill>
            <a:srgbClr val="FFFFFF"/>
          </a:solidFill>
          <a:ln w="19050">
            <a:solidFill>
              <a:srgbClr val="9D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76200" bIns="76200" wrap="square"/>
          <a:lstStyle/>
          <a:p>
            <a:pPr algn="ctr"/>
            <a:r>
              <a:rPr sz="1500" b="1">
                <a:solidFill>
                  <a:srgbClr val="0A1A5C"/>
                </a:solidFill>
                <a:latin typeface="Noto Sans"/>
              </a:rPr>
              <a:t>Taps "Pay later"</a:t>
            </a:r>
          </a:p>
          <a:p>
            <a:pPr algn="ctr"/>
            <a:r>
              <a:rPr sz="1050" b="0">
                <a:solidFill>
                  <a:srgbClr val="4A5A85"/>
                </a:solidFill>
                <a:latin typeface="Noto Sans"/>
              </a:rPr>
              <a:t>Pre-screened by Hong Leong Bank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34150" y="1447800"/>
            <a:ext cx="3810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A2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0A2378"/>
                </a:solidFill>
                <a:latin typeface="Noto Sans"/>
              </a:rPr>
              <a:t>1</a:t>
            </a:r>
          </a:p>
        </p:txBody>
      </p:sp>
      <p:sp>
        <p:nvSpPr>
          <p:cNvPr id="40" name="Diamond 39"/>
          <p:cNvSpPr/>
          <p:nvPr/>
        </p:nvSpPr>
        <p:spPr>
          <a:xfrm>
            <a:off x="7734300" y="1495425"/>
            <a:ext cx="3333750" cy="1590675"/>
          </a:xfrm>
          <a:prstGeom prst="diamond">
            <a:avLst/>
          </a:prstGeom>
          <a:solidFill>
            <a:srgbClr val="0A2378"/>
          </a:solidFill>
          <a:ln w="19050">
            <a:solidFill>
              <a:srgbClr val="0A2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76200" bIns="76200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Noto Sans"/>
              </a:rPr>
              <a:t>Limit covers item price?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115550" y="1714500"/>
            <a:ext cx="3810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A2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0A2378"/>
                </a:solidFill>
                <a:latin typeface="Noto Sans"/>
              </a:rPr>
              <a:t>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220575" y="1619250"/>
            <a:ext cx="3381375" cy="1352550"/>
          </a:xfrm>
          <a:prstGeom prst="rect">
            <a:avLst/>
          </a:prstGeom>
          <a:solidFill>
            <a:srgbClr val="FFFFFF"/>
          </a:solidFill>
          <a:ln w="19050">
            <a:solidFill>
              <a:srgbClr val="9D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76200" bIns="76200" wrap="square"/>
          <a:lstStyle/>
          <a:p>
            <a:pPr algn="ctr"/>
            <a:r>
              <a:rPr sz="1500" b="1">
                <a:solidFill>
                  <a:srgbClr val="0A1A5C"/>
                </a:solidFill>
                <a:latin typeface="Noto Sans"/>
              </a:rPr>
              <a:t>Picks plan</a:t>
            </a:r>
          </a:p>
          <a:p>
            <a:pPr algn="ctr"/>
            <a:r>
              <a:rPr sz="1050" b="0">
                <a:solidFill>
                  <a:srgbClr val="4A5A85"/>
                </a:solidFill>
                <a:latin typeface="Noto Sans"/>
              </a:rPr>
              <a:t>Tenor, monthly pay,</a:t>
            </a:r>
          </a:p>
          <a:p>
            <a:pPr algn="ctr"/>
            <a:r>
              <a:rPr sz="1050" b="0">
                <a:solidFill>
                  <a:srgbClr val="4A5A85"/>
                </a:solidFill>
                <a:latin typeface="Noto Sans"/>
              </a:rPr>
              <a:t>total cost shown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5049500" y="1447800"/>
            <a:ext cx="3810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A2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0A2378"/>
                </a:solidFill>
                <a:latin typeface="Noto Sans"/>
              </a:rPr>
              <a:t>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2220575" y="4191000"/>
            <a:ext cx="3381375" cy="1428750"/>
          </a:xfrm>
          <a:prstGeom prst="rect">
            <a:avLst/>
          </a:prstGeom>
          <a:solidFill>
            <a:srgbClr val="FFFFFF"/>
          </a:solidFill>
          <a:ln w="19050">
            <a:solidFill>
              <a:srgbClr val="9D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76200" bIns="76200" wrap="square"/>
          <a:lstStyle/>
          <a:p>
            <a:pPr algn="ctr"/>
            <a:r>
              <a:rPr sz="1500" b="1">
                <a:solidFill>
                  <a:srgbClr val="0A1A5C"/>
                </a:solidFill>
                <a:latin typeface="Noto Sans"/>
              </a:rPr>
              <a:t>Gets item</a:t>
            </a:r>
          </a:p>
          <a:p>
            <a:pPr algn="ctr"/>
            <a:r>
              <a:rPr sz="1050" b="0">
                <a:solidFill>
                  <a:srgbClr val="4A5A85"/>
                </a:solidFill>
                <a:latin typeface="Noto Sans"/>
              </a:rPr>
              <a:t>Hong Leong Bank pays merchant,</a:t>
            </a:r>
          </a:p>
          <a:p>
            <a:pPr algn="ctr"/>
            <a:r>
              <a:rPr sz="1050" b="0">
                <a:solidFill>
                  <a:srgbClr val="4A5A85"/>
                </a:solidFill>
                <a:latin typeface="Noto Sans"/>
              </a:rPr>
              <a:t>loan reported to CIC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4682787" y="4019550"/>
            <a:ext cx="752475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A2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0A2378"/>
                </a:solidFill>
                <a:latin typeface="Noto Sans"/>
              </a:rPr>
              <a:t>1 &amp; 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15250" y="4191000"/>
            <a:ext cx="3381375" cy="1428750"/>
          </a:xfrm>
          <a:prstGeom prst="rect">
            <a:avLst/>
          </a:prstGeom>
          <a:solidFill>
            <a:srgbClr val="FFFFFF"/>
          </a:solidFill>
          <a:ln w="19050">
            <a:solidFill>
              <a:srgbClr val="9D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76200" bIns="76200" wrap="square"/>
          <a:lstStyle/>
          <a:p>
            <a:pPr algn="ctr"/>
            <a:r>
              <a:rPr sz="1500" b="1">
                <a:solidFill>
                  <a:srgbClr val="0A1A5C"/>
                </a:solidFill>
                <a:latin typeface="Noto Sans"/>
              </a:rPr>
              <a:t>Shares data, ID</a:t>
            </a:r>
          </a:p>
          <a:p>
            <a:pPr algn="ctr"/>
            <a:r>
              <a:rPr sz="1050" b="0">
                <a:solidFill>
                  <a:srgbClr val="4A5A85"/>
                </a:solidFill>
                <a:latin typeface="Noto Sans"/>
              </a:rPr>
              <a:t>One-tap consent,</a:t>
            </a:r>
          </a:p>
          <a:p>
            <a:pPr algn="ctr"/>
            <a:r>
              <a:rPr sz="1050" b="0">
                <a:solidFill>
                  <a:srgbClr val="4A5A85"/>
                </a:solidFill>
                <a:latin typeface="Noto Sans"/>
              </a:rPr>
              <a:t>chip ID + selfie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177462" y="4019550"/>
            <a:ext cx="752475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A2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0A2378"/>
                </a:solidFill>
                <a:latin typeface="Noto Sans"/>
              </a:rPr>
              <a:t>3 &amp; 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43250" y="6524625"/>
            <a:ext cx="3381375" cy="1428750"/>
          </a:xfrm>
          <a:prstGeom prst="rect">
            <a:avLst/>
          </a:prstGeom>
          <a:solidFill>
            <a:srgbClr val="FFFFFF"/>
          </a:solidFill>
          <a:ln w="19050">
            <a:solidFill>
              <a:srgbClr val="9D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76200" bIns="76200" wrap="square"/>
          <a:lstStyle/>
          <a:p>
            <a:pPr algn="ctr"/>
            <a:r>
              <a:rPr sz="1500" b="1">
                <a:solidFill>
                  <a:srgbClr val="0A1A5C"/>
                </a:solidFill>
                <a:latin typeface="Noto Sans"/>
              </a:rPr>
              <a:t>"Data-for-limit" prompt</a:t>
            </a:r>
          </a:p>
          <a:p>
            <a:pPr algn="ctr"/>
            <a:r>
              <a:rPr sz="1050" b="0">
                <a:solidFill>
                  <a:srgbClr val="4A5A85"/>
                </a:solidFill>
                <a:latin typeface="Noto Sans"/>
              </a:rPr>
              <a:t>Unlocks higher limit with more data</a:t>
            </a:r>
          </a:p>
        </p:txBody>
      </p:sp>
      <p:sp>
        <p:nvSpPr>
          <p:cNvPr id="49" name="Diamond 48"/>
          <p:cNvSpPr/>
          <p:nvPr/>
        </p:nvSpPr>
        <p:spPr>
          <a:xfrm>
            <a:off x="7734300" y="6438900"/>
            <a:ext cx="3333750" cy="1666875"/>
          </a:xfrm>
          <a:prstGeom prst="diamond">
            <a:avLst/>
          </a:prstGeom>
          <a:solidFill>
            <a:srgbClr val="0A2378"/>
          </a:solidFill>
          <a:ln w="19050">
            <a:solidFill>
              <a:srgbClr val="0A2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76200" bIns="76200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Noto Sans"/>
              </a:rPr>
              <a:t>Instant decision?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001250" y="6705600"/>
            <a:ext cx="3810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A2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0A2378"/>
                </a:solidFill>
                <a:latin typeface="Noto Sans"/>
              </a:rPr>
              <a:t>2</a:t>
            </a:r>
          </a:p>
        </p:txBody>
      </p:sp>
      <p:sp>
        <p:nvSpPr>
          <p:cNvPr id="51" name="Diamond 50"/>
          <p:cNvSpPr/>
          <p:nvPr/>
        </p:nvSpPr>
        <p:spPr>
          <a:xfrm>
            <a:off x="7734300" y="8972550"/>
            <a:ext cx="3333750" cy="1666875"/>
          </a:xfrm>
          <a:prstGeom prst="diamond">
            <a:avLst/>
          </a:prstGeom>
          <a:solidFill>
            <a:srgbClr val="0A2378"/>
          </a:solidFill>
          <a:ln w="19050">
            <a:solidFill>
              <a:srgbClr val="0A2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76200" bIns="76200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Noto Sans"/>
              </a:rPr>
              <a:t>Accept offer?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039350" y="9201150"/>
            <a:ext cx="3810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A2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0A2378"/>
                </a:solidFill>
                <a:latin typeface="Noto Sans"/>
              </a:rPr>
              <a:t>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457575" y="11172825"/>
            <a:ext cx="3381375" cy="1447800"/>
          </a:xfrm>
          <a:prstGeom prst="rect">
            <a:avLst/>
          </a:prstGeom>
          <a:solidFill>
            <a:srgbClr val="FFFFFF"/>
          </a:solidFill>
          <a:ln w="19050">
            <a:solidFill>
              <a:srgbClr val="9D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76200" bIns="76200" wrap="square"/>
          <a:lstStyle/>
          <a:p>
            <a:pPr algn="ctr"/>
            <a:r>
              <a:rPr sz="1500" b="1">
                <a:solidFill>
                  <a:srgbClr val="0A1A5C"/>
                </a:solidFill>
                <a:latin typeface="Noto Sans"/>
              </a:rPr>
              <a:t>Request re-assessment</a:t>
            </a:r>
          </a:p>
          <a:p>
            <a:pPr algn="ctr"/>
            <a:r>
              <a:rPr sz="1050" b="0">
                <a:solidFill>
                  <a:srgbClr val="4A5A85"/>
                </a:solidFill>
                <a:latin typeface="Noto Sans"/>
              </a:rPr>
              <a:t>Credit request will be reviewed by banker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715250" y="11172825"/>
            <a:ext cx="3381375" cy="1524000"/>
          </a:xfrm>
          <a:prstGeom prst="rect">
            <a:avLst/>
          </a:prstGeom>
          <a:solidFill>
            <a:srgbClr val="FFFFFF"/>
          </a:solidFill>
          <a:ln w="19050">
            <a:solidFill>
              <a:srgbClr val="9D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76200" bIns="76200" wrap="square"/>
          <a:lstStyle/>
          <a:p>
            <a:pPr algn="ctr"/>
            <a:r>
              <a:rPr sz="1500" b="1">
                <a:solidFill>
                  <a:srgbClr val="0A1A5C"/>
                </a:solidFill>
                <a:latin typeface="Noto Sans"/>
              </a:rPr>
              <a:t>Banker reviews</a:t>
            </a:r>
          </a:p>
          <a:p>
            <a:pPr algn="ctr"/>
            <a:r>
              <a:rPr sz="1050" b="0">
                <a:solidFill>
                  <a:srgbClr val="4A5A85"/>
                </a:solidFill>
                <a:latin typeface="Noto Sans"/>
              </a:rPr>
              <a:t>Takes more than 30 min</a:t>
            </a:r>
          </a:p>
          <a:p>
            <a:pPr algn="ctr"/>
            <a:r>
              <a:rPr sz="1050" b="0">
                <a:solidFill>
                  <a:srgbClr val="4A5A85"/>
                </a:solidFill>
                <a:latin typeface="Noto Sans"/>
              </a:rPr>
              <a:t>(manual review by banker)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553700" y="11010900"/>
            <a:ext cx="3810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A2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0A2378"/>
                </a:solidFill>
                <a:latin typeface="Noto Sans"/>
              </a:rPr>
              <a:t>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33375" y="13668375"/>
            <a:ext cx="3695700" cy="2000250"/>
          </a:xfrm>
          <a:prstGeom prst="rect">
            <a:avLst/>
          </a:prstGeom>
          <a:solidFill>
            <a:srgbClr val="FFFFFF"/>
          </a:solidFill>
          <a:ln w="19050">
            <a:solidFill>
              <a:srgbClr val="9D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76200" bIns="76200" wrap="square"/>
          <a:lstStyle/>
          <a:p>
            <a:pPr algn="ctr"/>
            <a:r>
              <a:rPr sz="1500" b="1">
                <a:solidFill>
                  <a:srgbClr val="0A1A5C"/>
                </a:solidFill>
                <a:latin typeface="Noto Sans"/>
              </a:rPr>
              <a:t>Pays back in instalments</a:t>
            </a:r>
          </a:p>
          <a:p>
            <a:pPr algn="ctr"/>
            <a:r>
              <a:rPr sz="1050" b="0">
                <a:solidFill>
                  <a:srgbClr val="4A5A85"/>
                </a:solidFill>
                <a:latin typeface="Noto Sans"/>
              </a:rPr>
              <a:t>Personal users: fixed monthly</a:t>
            </a:r>
          </a:p>
          <a:p>
            <a:pPr algn="ctr"/>
            <a:r>
              <a:rPr sz="1050" b="0">
                <a:solidFill>
                  <a:srgbClr val="4A5A85"/>
                </a:solidFill>
                <a:latin typeface="Noto Sans"/>
              </a:rPr>
              <a:t>Gig workers: % of daily pay</a:t>
            </a:r>
          </a:p>
          <a:p>
            <a:pPr algn="ctr"/>
            <a:r>
              <a:rPr sz="1050" b="0">
                <a:solidFill>
                  <a:srgbClr val="4A5A85"/>
                </a:solidFill>
                <a:latin typeface="Noto Sans"/>
              </a:rPr>
              <a:t>Merchants: % of daily sales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100387" y="13506450"/>
            <a:ext cx="752475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A2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0A2378"/>
                </a:solidFill>
                <a:latin typeface="Noto Sans"/>
              </a:rPr>
              <a:t>7 &amp; 8</a:t>
            </a:r>
          </a:p>
        </p:txBody>
      </p:sp>
      <p:sp>
        <p:nvSpPr>
          <p:cNvPr id="58" name="Diamond 57"/>
          <p:cNvSpPr/>
          <p:nvPr/>
        </p:nvSpPr>
        <p:spPr>
          <a:xfrm>
            <a:off x="4838700" y="13839825"/>
            <a:ext cx="3333750" cy="1666875"/>
          </a:xfrm>
          <a:prstGeom prst="diamond">
            <a:avLst/>
          </a:prstGeom>
          <a:solidFill>
            <a:srgbClr val="0A2378"/>
          </a:solidFill>
          <a:ln w="19050">
            <a:solidFill>
              <a:srgbClr val="0A2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76200" bIns="76200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Noto Sans"/>
              </a:rPr>
              <a:t>Hardship or return?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296150" y="14058900"/>
            <a:ext cx="3810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A2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0A2378"/>
                </a:solidFill>
                <a:latin typeface="Noto Sans"/>
              </a:rPr>
              <a:t>9</a:t>
            </a:r>
          </a:p>
        </p:txBody>
      </p:sp>
      <p:sp>
        <p:nvSpPr>
          <p:cNvPr id="60" name="Terminator 59"/>
          <p:cNvSpPr/>
          <p:nvPr/>
        </p:nvSpPr>
        <p:spPr>
          <a:xfrm>
            <a:off x="9001125" y="13982700"/>
            <a:ext cx="3219450" cy="1362075"/>
          </a:xfrm>
          <a:prstGeom prst="flowChartTerminator">
            <a:avLst/>
          </a:prstGeom>
          <a:solidFill>
            <a:srgbClr val="E2F3FD"/>
          </a:solidFill>
          <a:ln w="25400">
            <a:solidFill>
              <a:srgbClr val="33A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76200" bIns="76200" wrap="square"/>
          <a:lstStyle/>
          <a:p>
            <a:pPr algn="ctr"/>
            <a:r>
              <a:rPr sz="1500" b="1">
                <a:solidFill>
                  <a:srgbClr val="0A2378"/>
                </a:solidFill>
                <a:latin typeface="Noto Sans"/>
              </a:rPr>
              <a:t>Limit grows</a:t>
            </a:r>
          </a:p>
          <a:p>
            <a:pPr algn="ctr"/>
            <a:r>
              <a:rPr sz="1050" b="0">
                <a:solidFill>
                  <a:srgbClr val="1F5FD6"/>
                </a:solidFill>
                <a:latin typeface="Noto Sans"/>
              </a:rPr>
              <a:t>After on-time pay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1677650" y="13830300"/>
            <a:ext cx="3810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A2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0A2378"/>
                </a:solidFill>
                <a:latin typeface="Noto Sans"/>
              </a:rPr>
              <a:t>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829175" y="16402050"/>
            <a:ext cx="3381375" cy="1447800"/>
          </a:xfrm>
          <a:prstGeom prst="rect">
            <a:avLst/>
          </a:prstGeom>
          <a:solidFill>
            <a:srgbClr val="FFFFFF"/>
          </a:solidFill>
          <a:ln w="19050">
            <a:solidFill>
              <a:srgbClr val="9D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76200" bIns="76200" wrap="square"/>
          <a:lstStyle/>
          <a:p>
            <a:pPr algn="ctr"/>
            <a:r>
              <a:rPr sz="1500" b="1">
                <a:solidFill>
                  <a:srgbClr val="0A1A5C"/>
                </a:solidFill>
                <a:latin typeface="Noto Sans"/>
              </a:rPr>
              <a:t>Gets help</a:t>
            </a:r>
          </a:p>
          <a:p>
            <a:pPr algn="ctr"/>
            <a:r>
              <a:rPr sz="1050" b="0">
                <a:solidFill>
                  <a:srgbClr val="4A5A85"/>
                </a:solidFill>
                <a:latin typeface="Noto Sans"/>
              </a:rPr>
              <a:t>Pause, extension</a:t>
            </a:r>
          </a:p>
          <a:p>
            <a:pPr algn="ctr"/>
            <a:r>
              <a:rPr sz="1050" b="0">
                <a:solidFill>
                  <a:srgbClr val="4A5A85"/>
                </a:solidFill>
                <a:latin typeface="Noto Sans"/>
              </a:rPr>
              <a:t>or refund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658100" y="16240125"/>
            <a:ext cx="3810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A2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0A2378"/>
                </a:solidFill>
                <a:latin typeface="Noto Sans"/>
              </a:rPr>
              <a:t>9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001125" y="16402050"/>
            <a:ext cx="3219450" cy="1447800"/>
          </a:xfrm>
          <a:prstGeom prst="rect">
            <a:avLst/>
          </a:prstGeom>
          <a:solidFill>
            <a:srgbClr val="FFFFFF"/>
          </a:solidFill>
          <a:ln w="19050">
            <a:solidFill>
              <a:srgbClr val="9DBD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76200" bIns="76200" wrap="square"/>
          <a:lstStyle/>
          <a:p>
            <a:pPr algn="ctr"/>
            <a:r>
              <a:rPr sz="1500" b="1">
                <a:solidFill>
                  <a:srgbClr val="0A1A5C"/>
                </a:solidFill>
                <a:latin typeface="Noto Sans"/>
              </a:rPr>
              <a:t>Optional offer</a:t>
            </a:r>
          </a:p>
          <a:p>
            <a:pPr algn="ctr"/>
            <a:r>
              <a:rPr sz="1050" b="0">
                <a:solidFill>
                  <a:srgbClr val="4A5A85"/>
                </a:solidFill>
                <a:latin typeface="Noto Sans"/>
              </a:rPr>
              <a:t>Hong Leong Bank card or loan,</a:t>
            </a:r>
          </a:p>
          <a:p>
            <a:pPr algn="ctr"/>
            <a:r>
              <a:rPr sz="1050" b="0">
                <a:solidFill>
                  <a:srgbClr val="4A5A85"/>
                </a:solidFill>
                <a:latin typeface="Noto Sans"/>
              </a:rPr>
              <a:t>customer's choice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1620500" y="16240125"/>
            <a:ext cx="43815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A2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0A2378"/>
                </a:solidFill>
                <a:latin typeface="Noto Sans"/>
              </a:rPr>
              <a:t>11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363450" y="952500"/>
            <a:ext cx="476250" cy="228600"/>
          </a:xfrm>
          <a:prstGeom prst="rect">
            <a:avLst/>
          </a:prstGeom>
          <a:solidFill>
            <a:srgbClr val="FFFFFF"/>
          </a:solidFill>
        </p:spPr>
        <p:txBody>
          <a:bodyPr wrap="square" anchor="ctr" lIns="19050" rIns="19050" tIns="19050" bIns="19050">
            <a:spAutoFit/>
          </a:bodyPr>
          <a:lstStyle/>
          <a:p>
            <a:pPr algn="ctr"/>
            <a:r>
              <a:rPr sz="1000" b="0">
                <a:solidFill>
                  <a:srgbClr val="4A5A85"/>
                </a:solidFill>
                <a:latin typeface="Noto Sans"/>
              </a:rPr>
              <a:t>Yes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220200" y="3505200"/>
            <a:ext cx="381000" cy="228600"/>
          </a:xfrm>
          <a:prstGeom prst="rect">
            <a:avLst/>
          </a:prstGeom>
          <a:solidFill>
            <a:srgbClr val="FFFFFF"/>
          </a:solidFill>
        </p:spPr>
        <p:txBody>
          <a:bodyPr wrap="square" anchor="ctr" lIns="19050" rIns="19050" tIns="19050" bIns="19050">
            <a:spAutoFit/>
          </a:bodyPr>
          <a:lstStyle/>
          <a:p>
            <a:pPr algn="ctr"/>
            <a:r>
              <a:rPr sz="1000" b="0">
                <a:solidFill>
                  <a:srgbClr val="4A5A85"/>
                </a:solidFill>
                <a:latin typeface="Noto Sans"/>
              </a:rPr>
              <a:t>No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58000" y="7143750"/>
            <a:ext cx="590550" cy="228600"/>
          </a:xfrm>
          <a:prstGeom prst="rect">
            <a:avLst/>
          </a:prstGeom>
          <a:solidFill>
            <a:srgbClr val="FFFFFF"/>
          </a:solidFill>
        </p:spPr>
        <p:txBody>
          <a:bodyPr wrap="square" anchor="ctr" lIns="19050" rIns="19050" tIns="19050" bIns="19050">
            <a:spAutoFit/>
          </a:bodyPr>
          <a:lstStyle/>
          <a:p>
            <a:pPr algn="ctr"/>
            <a:r>
              <a:rPr sz="1000" b="0">
                <a:solidFill>
                  <a:srgbClr val="4A5A85"/>
                </a:solidFill>
                <a:latin typeface="Noto Sans"/>
              </a:rPr>
              <a:t>declined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810500" y="8210550"/>
            <a:ext cx="3200400" cy="400050"/>
          </a:xfrm>
          <a:prstGeom prst="rect">
            <a:avLst/>
          </a:prstGeom>
          <a:solidFill>
            <a:srgbClr val="FFFFFF"/>
          </a:solidFill>
        </p:spPr>
        <p:txBody>
          <a:bodyPr wrap="square" anchor="ctr" lIns="19050" rIns="19050" tIns="19050" bIns="19050">
            <a:spAutoFit/>
          </a:bodyPr>
          <a:lstStyle/>
          <a:p>
            <a:pPr algn="ctr"/>
            <a:r>
              <a:rPr sz="950" b="0">
                <a:solidFill>
                  <a:srgbClr val="4A5A85"/>
                </a:solidFill>
                <a:latin typeface="Noto Sans"/>
              </a:rPr>
              <a:t>Approved</a:t>
            </a:r>
          </a:p>
          <a:p>
            <a:pPr algn="ctr"/>
            <a:r>
              <a:rPr sz="950" b="0">
                <a:solidFill>
                  <a:srgbClr val="4A5A85"/>
                </a:solidFill>
                <a:latin typeface="Noto Sans"/>
              </a:rPr>
              <a:t>(full price or lower limit (for low-confident case))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296650" y="9105900"/>
            <a:ext cx="400050" cy="228600"/>
          </a:xfrm>
          <a:prstGeom prst="rect">
            <a:avLst/>
          </a:prstGeom>
          <a:solidFill>
            <a:srgbClr val="FFFFFF"/>
          </a:solidFill>
        </p:spPr>
        <p:txBody>
          <a:bodyPr wrap="square" anchor="ctr" lIns="19050" rIns="19050" tIns="19050" bIns="19050">
            <a:spAutoFit/>
          </a:bodyPr>
          <a:lstStyle/>
          <a:p>
            <a:pPr algn="ctr"/>
            <a:r>
              <a:rPr sz="1000" b="0">
                <a:solidFill>
                  <a:srgbClr val="4A5A85"/>
                </a:solidFill>
                <a:latin typeface="Noto Sans"/>
              </a:rPr>
              <a:t>Yes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58050" y="9686925"/>
            <a:ext cx="381000" cy="228600"/>
          </a:xfrm>
          <a:prstGeom prst="rect">
            <a:avLst/>
          </a:prstGeom>
          <a:solidFill>
            <a:srgbClr val="FFFFFF"/>
          </a:solidFill>
        </p:spPr>
        <p:txBody>
          <a:bodyPr wrap="square" anchor="ctr" lIns="19050" rIns="19050" tIns="19050" bIns="19050">
            <a:spAutoFit/>
          </a:bodyPr>
          <a:lstStyle/>
          <a:p>
            <a:pPr algn="ctr"/>
            <a:r>
              <a:rPr sz="1000" b="0">
                <a:solidFill>
                  <a:srgbClr val="4A5A85"/>
                </a:solidFill>
                <a:latin typeface="Noto Sans"/>
              </a:rPr>
              <a:t>No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163300" y="12020550"/>
            <a:ext cx="857250" cy="228600"/>
          </a:xfrm>
          <a:prstGeom prst="rect">
            <a:avLst/>
          </a:prstGeom>
          <a:noFill/>
        </p:spPr>
        <p:txBody>
          <a:bodyPr wrap="square" anchor="ctr" lIns="19050" rIns="19050" tIns="19050" bIns="19050">
            <a:spAutoFit/>
          </a:bodyPr>
          <a:lstStyle/>
          <a:p>
            <a:pPr algn="ctr"/>
            <a:r>
              <a:rPr sz="1000" b="0">
                <a:solidFill>
                  <a:srgbClr val="4A5A85"/>
                </a:solidFill>
                <a:latin typeface="Noto Sans"/>
              </a:rPr>
              <a:t>if approved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401050" y="14554200"/>
            <a:ext cx="381000" cy="228600"/>
          </a:xfrm>
          <a:prstGeom prst="rect">
            <a:avLst/>
          </a:prstGeom>
          <a:solidFill>
            <a:srgbClr val="FFFFFF"/>
          </a:solidFill>
        </p:spPr>
        <p:txBody>
          <a:bodyPr wrap="square" anchor="ctr" lIns="19050" rIns="19050" tIns="19050" bIns="19050">
            <a:spAutoFit/>
          </a:bodyPr>
          <a:lstStyle/>
          <a:p>
            <a:pPr algn="ctr"/>
            <a:r>
              <a:rPr sz="1000" b="0">
                <a:solidFill>
                  <a:srgbClr val="4A5A85"/>
                </a:solidFill>
                <a:latin typeface="Noto Sans"/>
              </a:rPr>
              <a:t>No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324600" y="15811500"/>
            <a:ext cx="381000" cy="228600"/>
          </a:xfrm>
          <a:prstGeom prst="rect">
            <a:avLst/>
          </a:prstGeom>
          <a:solidFill>
            <a:srgbClr val="FFFFFF"/>
          </a:solidFill>
        </p:spPr>
        <p:txBody>
          <a:bodyPr wrap="square" anchor="ctr" lIns="19050" rIns="19050" tIns="19050" bIns="19050">
            <a:spAutoFit/>
          </a:bodyPr>
          <a:lstStyle/>
          <a:p>
            <a:pPr algn="ctr"/>
            <a:r>
              <a:rPr sz="1000" b="0">
                <a:solidFill>
                  <a:srgbClr val="4A5A85"/>
                </a:solidFill>
                <a:latin typeface="Noto Sans"/>
              </a:rPr>
              <a:t>Yes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982200" y="15735300"/>
            <a:ext cx="1257300" cy="228600"/>
          </a:xfrm>
          <a:prstGeom prst="rect">
            <a:avLst/>
          </a:prstGeom>
          <a:solidFill>
            <a:srgbClr val="FFFFFF"/>
          </a:solidFill>
        </p:spPr>
        <p:txBody>
          <a:bodyPr wrap="square" anchor="ctr" lIns="19050" rIns="19050" tIns="19050" bIns="19050">
            <a:spAutoFit/>
          </a:bodyPr>
          <a:lstStyle/>
          <a:p>
            <a:pPr algn="ctr"/>
            <a:r>
              <a:rPr sz="1000" b="0">
                <a:solidFill>
                  <a:srgbClr val="4A5A85"/>
                </a:solidFill>
                <a:latin typeface="Noto Sans"/>
              </a:rPr>
              <a:t>strong history only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286250" y="18383250"/>
            <a:ext cx="7620000" cy="342900"/>
          </a:xfrm>
          <a:prstGeom prst="rect">
            <a:avLst/>
          </a:prstGeom>
          <a:noFill/>
        </p:spPr>
        <p:txBody>
          <a:bodyPr wrap="square" anchor="ctr" lIns="19050" rIns="19050" tIns="19050" bIns="19050">
            <a:spAutoFit/>
          </a:bodyPr>
          <a:lstStyle/>
          <a:p>
            <a:pPr algn="ctr"/>
            <a:r>
              <a:rPr sz="1200" b="1">
                <a:solidFill>
                  <a:srgbClr val="0A2378"/>
                </a:solidFill>
                <a:latin typeface="Noto Sans"/>
              </a:rPr>
              <a:t>↻ Every repayment helps retrain the decision engine (10)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